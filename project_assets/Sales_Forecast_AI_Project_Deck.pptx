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40a954d4ac4b61" /><Relationship Type="http://schemas.openxmlformats.org/officeDocument/2006/relationships/extended-properties" Target="/docProps/app.xml" Id="Ra60bbd81d6414d9f" /><Relationship Type="http://schemas.openxmlformats.org/officeDocument/2006/relationships/officeDocument" Target="/ppt/presentation.xml" Id="Rfd3d86ea233c47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f8839670564ef9"/>
  </p:sldMasterIdLst>
  <p:notesMasterIdLst>
    <p:notesMasterId xmlns:r="http://schemas.openxmlformats.org/officeDocument/2006/relationships" r:id="R41a0102a17d84b91"/>
  </p:notesMasterIdLst>
  <p:sldIdLst>
    <p:sldId xmlns:r="http://schemas.openxmlformats.org/officeDocument/2006/relationships" id="256" r:id="R26f16a1a6bce4733"/>
    <p:sldId xmlns:r="http://schemas.openxmlformats.org/officeDocument/2006/relationships" id="257" r:id="R2dfff7038a904228"/>
    <p:sldId xmlns:r="http://schemas.openxmlformats.org/officeDocument/2006/relationships" id="258" r:id="R502268f1623c40ac"/>
    <p:sldId xmlns:r="http://schemas.openxmlformats.org/officeDocument/2006/relationships" id="259" r:id="R85b8e09a643c4694"/>
    <p:sldId xmlns:r="http://schemas.openxmlformats.org/officeDocument/2006/relationships" id="260" r:id="Ra75559f0527e4ec5"/>
    <p:sldId xmlns:r="http://schemas.openxmlformats.org/officeDocument/2006/relationships" id="261" r:id="R904f61cf1fd547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f8839670564ef9" /><Relationship Type="http://schemas.openxmlformats.org/officeDocument/2006/relationships/theme" Target="/ppt/theme/theme1.xml" Id="R70d9eb83fc0c42a9" /><Relationship Type="http://schemas.openxmlformats.org/officeDocument/2006/relationships/notesMaster" Target="/ppt/notesMasters/notesMaster1.xml" Id="R41a0102a17d84b91" /><Relationship Type="http://schemas.openxmlformats.org/officeDocument/2006/relationships/presProps" Target="/ppt/presProps.xml" Id="R77bd41759ae240fb" /><Relationship Type="http://schemas.openxmlformats.org/officeDocument/2006/relationships/viewProps" Target="/ppt/viewProps.xml" Id="R38f7ed8ea858408f" /><Relationship Type="http://schemas.openxmlformats.org/officeDocument/2006/relationships/tableStyles" Target="/ppt/tableStyles.xml" Id="R13290a9e04f34174" /><Relationship Type="http://schemas.openxmlformats.org/officeDocument/2006/relationships/slide" Target="/ppt/slides/slide1.xml" Id="R26f16a1a6bce4733" /><Relationship Type="http://schemas.openxmlformats.org/officeDocument/2006/relationships/slide" Target="/ppt/slides/slide2.xml" Id="R2dfff7038a904228" /><Relationship Type="http://schemas.openxmlformats.org/officeDocument/2006/relationships/slide" Target="/ppt/slides/slide3.xml" Id="R502268f1623c40ac" /><Relationship Type="http://schemas.openxmlformats.org/officeDocument/2006/relationships/slide" Target="/ppt/slides/slide4.xml" Id="R85b8e09a643c4694" /><Relationship Type="http://schemas.openxmlformats.org/officeDocument/2006/relationships/slide" Target="/ppt/slides/slide5.xml" Id="Ra75559f0527e4ec5" /><Relationship Type="http://schemas.openxmlformats.org/officeDocument/2006/relationships/slide" Target="/ppt/slides/slide6.xml" Id="R904f61cf1fd547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26628b86da648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e798594a5849a9" /><Relationship Type="http://schemas.openxmlformats.org/officeDocument/2006/relationships/notesMaster" Target="/ppt/notesMasters/notesMaster1.xml" Id="R3467bc44588c4c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2c60f956ac42b5" /><Relationship Type="http://schemas.openxmlformats.org/officeDocument/2006/relationships/notesMaster" Target="/ppt/notesMasters/notesMaster1.xml" Id="Rec2966b316194b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63269a9f9148d1" /><Relationship Type="http://schemas.openxmlformats.org/officeDocument/2006/relationships/notesMaster" Target="/ppt/notesMasters/notesMaster1.xml" Id="Reab6ad298c6541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139f40eec34480" /><Relationship Type="http://schemas.openxmlformats.org/officeDocument/2006/relationships/notesMaster" Target="/ppt/notesMasters/notesMaster1.xml" Id="Rf46f40cfc0f84b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e58a21161e441c" /><Relationship Type="http://schemas.openxmlformats.org/officeDocument/2006/relationships/notesMaster" Target="/ppt/notesMasters/notesMaster1.xml" Id="R7b7e78478d7a4d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2d02c8087144f9" /><Relationship Type="http://schemas.openxmlformats.org/officeDocument/2006/relationships/notesMaster" Target="/ppt/notesMasters/notesMaster1.xml" Id="R31eb940d71464f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8f46c57b74fd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ea8a5e679a3479c" /><Relationship Type="http://schemas.openxmlformats.org/officeDocument/2006/relationships/slideLayout" Target="/ppt/slideLayouts/slideLayout2.xml" Id="R3c69202c58f643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69202c58f643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bd19f05de841fe" /><Relationship Type="http://schemas.openxmlformats.org/officeDocument/2006/relationships/notesSlide" Target="/ppt/notesSlides/notesSlide1.xml" Id="R152988acd2884a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afe03718214c6a" /><Relationship Type="http://schemas.openxmlformats.org/officeDocument/2006/relationships/notesSlide" Target="/ppt/notesSlides/notesSlide2.xml" Id="Rdc03a7da1a2143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c916b07c2245e5" /><Relationship Type="http://schemas.openxmlformats.org/officeDocument/2006/relationships/notesSlide" Target="/ppt/notesSlides/notesSlide3.xml" Id="R2edadfd8ca1343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d74b2ca8b64ba3" /><Relationship Type="http://schemas.openxmlformats.org/officeDocument/2006/relationships/notesSlide" Target="/ppt/notesSlides/notesSlide4.xml" Id="R904b49373ce04d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45600e325a4708" /><Relationship Type="http://schemas.openxmlformats.org/officeDocument/2006/relationships/notesSlide" Target="/ppt/notesSlides/notesSlide5.xml" Id="Rf613dbfb7c5c4e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32b0d973014aba" /><Relationship Type="http://schemas.openxmlformats.org/officeDocument/2006/relationships/notesSlide" Target="/ppt/notesSlides/notesSlide6.xml" Id="Rcfa8945fc0054a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B53DDC-8277-44FB-89DC-B9545220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4F895-791C-47DE-8FBF-38A8675A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ACE4A-FC56-4D13-A7B3-B7A86305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7FFCA-07A2-4B90-93BD-955B6B42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SALES FORECAST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A2288-F8FC-4403-A58D-9F27DC54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02F5F-AFF5-4618-A12D-263B30F2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429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professional revenue forecasting workspace built for CRM-style forecast reviews.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8BB61-DD59-4500-96D4-5CD9DC45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628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Streamlit app + Google Colab preprocessing + Groq insight chat + PowerPoint reporting assets.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0DA9C-5354-4878-9560-06C249A2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3AB1D-E863-4507-8749-DD15ED7B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30ED0-C4DC-494E-BC6C-A3D47607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Forecast Center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1AC3D-5E60-4A7A-A456-E456C768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Quota, commit, best case,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F7A11-0A04-4CA1-AAE0-0CF3859D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530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3D593-5A86-4CBE-A4B3-67D82849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530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011D1-37F7-4517-A46B-5BDA0972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244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Groq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A5BD4-1181-467B-AD3B-558A0F0E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5054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Revenue operations chatbot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863EF-F043-4027-A00B-CF5C8B44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530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A7589-6914-4E62-9355-19F67E57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530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D4CFE7-0EEB-4BE6-A452-3B26E907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1244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Colab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E8919-5435-4663-8065-80A78738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5054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Repeatable preprocessing notebook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D4F38-3174-4567-BF30-23A97031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047750"/>
            <a:ext cx="22669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D06A9F-642D-447E-989B-66714691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3525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Core thesis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4B28D-0087-4692-908A-AF120D89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3355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project moves from a basic sales prediction demo into an operating-grade forecast system: clean data, model revenue, inspect pipeline risk, and explain the forecast in plain language.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848299-A1EA-4F63-AA78-A992EBDE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7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Deliverable deck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79322F-163C-4156-BC7E-82C0ADEB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767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Editable PPTX linked inside the website.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84A61-2D8B-4963-8B81-D4027F56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D2AA98-1772-465C-BD8E-69BEA746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Sales Forecast AI | 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FE06D2-C2C1-4434-9C22-B2E82735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341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Streamlit + Colab + Groq</a:t>
            </a:r>
          </a:p>
        </p:txBody>
      </p:sp>
    </p:spTree>
    <p:extLst>
      <p:ext uri="{BB962C8B-B14F-4D97-AF65-F5344CB8AC3E}">
        <p14:creationId xmlns:p14="http://schemas.microsoft.com/office/powerpoint/2010/main" val="13994963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5226EE-0E23-46E5-94EC-6A7D65B1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36323-CEE7-4EB6-A1C7-4502B0A8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515105A-B4BB-4D65-98E8-E9E02AE2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SYSTEM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5C4E3-96FA-4548-8663-502975C4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The workflow turns raw sales files into an executive forecast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14994-FDE7-4209-A16D-0C3D37A2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FA606-6AE6-4069-AB83-10E197B6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2563E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31E0A-AC63-47C3-BC84-F03EFEA3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DC242-EF8C-4190-BEA4-A71638CA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76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CSV, Excel, JSON, JSONL, Parquet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04A62-AC40-4450-B68B-2687E004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DFDFF-82C7-4B8D-9449-B5B83ADD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527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97316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9731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82951-C0E1-4983-84EF-38A73FE8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71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Colab preprocess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FA406-047C-4740-843E-2EA0637A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76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Map columns, clean rows, engineer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7AC53-89E1-4FD8-8A11-85FD1E2D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294BC-AAE0-4EA7-A24D-9D80FCE6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2563E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A48F1-488A-4F6A-A990-96108949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Streamlit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04A07-8779-46AF-8394-B3B8D99B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76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Train leaderboard, forecast revenue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B2A85-8CBD-4D61-AE2C-1D07B76A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E2C52-BC48-4470-8D62-ECAFB606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97316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9731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633D88-76A0-4019-9DA8-57C4FD9C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Forecast Center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3B31E-0E7E-4910-BE9F-9F85007B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Quota, categories, coverage, territory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5E8286-71BC-4CB1-AED2-968D838D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050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E2ABE2-4973-41A2-A006-058A3923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2563EB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A871C-D495-411D-88C1-D2985CC1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91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Groq chatbot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ADA576-D45B-4F9D-ACA0-95DA54A9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958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Explain forecast health and business drivers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08D192-6891-49C1-B7C7-1DD0FA38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0050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D76C95-D1D7-463C-BD15-C4CF8F25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97316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97316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297A22-3181-4211-AB03-58239E61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91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AC9986-0690-4199-A40B-04FB0CA7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958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CSV, PDF, PPT links for sharing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48F56F-A37F-4FB4-B4E2-163B3353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38DB98-81C1-42B4-9283-56F75F07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Sales Forecast AI | 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70F0A3-57F5-49D6-A4C4-F75D226A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341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Streamlit + Colab + Groq</a:t>
            </a:r>
          </a:p>
        </p:txBody>
      </p:sp>
    </p:spTree>
    <p:extLst>
      <p:ext uri="{BB962C8B-B14F-4D97-AF65-F5344CB8AC3E}">
        <p14:creationId xmlns:p14="http://schemas.microsoft.com/office/powerpoint/2010/main" val="16809295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ABEBD8-3B42-42C9-A78F-CE15397A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82DA5-EA4C-42EA-92F2-2132F41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A0CDEC4-7C76-477C-B475-C976FF1B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FORECAST CENTER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3AC60-0E46-432C-B4C2-CA9C591A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The CRM forecast view makes quota risk visible before the review meeting.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9234F-42ED-4F11-8D81-5A9D3EDE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A9361-E6BB-4FBC-86FF-B344BFA5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B739A-808D-40B0-BC78-AD2030DA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INR 1.72M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580EC-B8AC-47EA-A023-B0EE9C9D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Quarter quota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F75FA-D7B6-41BF-B5F4-8F369DFD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95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8C9F0-9B18-41BC-8A5E-77463D76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95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1E158-665B-420E-A80D-3CC67EFE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INR 1.59M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53650-2875-4621-9117-6BE6AED8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479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Weighted forecast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4B640-D677-44B5-8DD8-B776D2E1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7B4C5-A042-4209-9746-F2F670C4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D60C1-EFF3-4A66-80CD-8047D74C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93%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C9550-159E-4637-988B-BEE302FF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Attainment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98FFF-8D4A-415A-883A-AEEFB533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C6152-4974-4CD2-AB3F-5DF59CED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36790-5338-4659-B43A-5442C788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9.9x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C5DC81-2718-4856-9120-5B134B52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Pipeline coverage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D653EB-39C3-45B1-9C40-F53224C0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Forecast categories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1AFBD2-E93F-4F7F-B5B2-5A80B05B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Closed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7F31F6-0D94-4EBD-9403-3B4CAFF0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62425"/>
            <a:ext cx="590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C182BE-3AD0-495E-9493-1E86B4C6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62425"/>
            <a:ext cx="590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BBD7EB-14CF-48CA-A95C-8C4D5EE5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Committed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A8A11-64DA-4126-AB85-6FC0D95C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24375"/>
            <a:ext cx="590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557E1D-7B89-485B-BFED-A651D2AA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24375"/>
            <a:ext cx="406672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4C3C5C-A42A-436D-9395-142B5682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Best Case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5BBAFD-3FDF-4AC1-B891-AA25C0D9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86325"/>
            <a:ext cx="590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E5C07D-D160-4D87-86A1-B65E609E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86325"/>
            <a:ext cx="346352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9EB727-2716-4CF5-BDC5-0A360ED7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834EFB-B2D1-4691-820F-92D0CB5A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48275"/>
            <a:ext cx="590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08F8A4-4741-4B7B-8C14-9F627045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48275"/>
            <a:ext cx="441696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03FF78-2835-4A85-9A02-EF951048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Omitted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5FDFF3-EE3F-4B5A-AA9D-18F458A4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0225"/>
            <a:ext cx="590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CA3194-09A3-4667-AFED-4AB701A3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0225"/>
            <a:ext cx="83669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6ED6B3-72AC-4A9E-8A00-139167E2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71900"/>
            <a:ext cx="2857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CAE841-9094-4225-92D0-0FEDC937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38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Manager readout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028A6B-9FE7-4B96-A008-43176100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57700"/>
            <a:ext cx="2247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Weighted forecast trails quota by INR 127K. The issue is not pipeline volume; it is conversion confidence and territory follow-through.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3C76D3-5F11-48E1-AE6B-AAA8A716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7E1088-39B6-4ED5-A99F-769962BE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Sales Forecast AI | 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546EE5-7331-4AE8-907B-6EC3A72D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341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Streamlit + Colab + Groq</a:t>
            </a:r>
          </a:p>
        </p:txBody>
      </p:sp>
    </p:spTree>
    <p:extLst>
      <p:ext uri="{BB962C8B-B14F-4D97-AF65-F5344CB8AC3E}">
        <p14:creationId xmlns:p14="http://schemas.microsoft.com/office/powerpoint/2010/main" val="6272128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7B7113-1B5B-42C2-AEAB-ECE2A44F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67EC0-2380-4F36-85F4-521A7B11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2F490C3-CB94-4195-90A4-E9FC1816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DATA FOUNDATION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DA03F-C116-4051-ACC4-9E3C24D1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Colab preprocessing creates a repeatable path from messy files to model-ready sales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8E2CF-B1CC-473C-8AD2-D5B2E2FE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FA268-F552-4444-8035-1014C980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542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Auto-detects date, territory, product, quantity, revenue, discount, and review fields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AE0B6-7A51-4AD5-8FA0-180EFAE6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87C8E-DAF3-43D2-A5BB-40369386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95575"/>
            <a:ext cx="542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Falls back safely when optional fields are missing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756A0-8CC6-4616-BA7B-68825F8C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A1BEF-6644-4ACA-83C2-780609D7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542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Calculates revenue from quantity x unit price when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E017F-29BE-47E7-A75D-2F7F562D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643FE-BFCE-4EED-9E1A-5228D47A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43325"/>
            <a:ext cx="542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Creates lag, rolling mean, volatility, calendar, and weekend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635F1-AF84-4BF9-87C9-E39159C5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E7405-0543-4029-9299-FB3AD16E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542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Exports cleaned_sales_data.csv for Streamlit upload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D1C17-80F8-4C17-9AAC-0DDE4F6E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D6065-17F3-4749-9C1C-7E1BF6E4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241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Colab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34F96-C4BE-4F16-9614-17E3BAD9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Open in browser, upload data, inspect mapping, run preprocessing, download cleaned CSV.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BD7ED-AF5D-4639-A17C-DCF5EC13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38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D53BF4-DCE6-473F-B792-BEBA39FA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86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cleaned_sales_data.csv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D36C57-8BF6-4835-A1D7-E0DA71CB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C18D5E-7C7E-481F-9EDF-09FA48C1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Sales Forecast AI | 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FEB7F5-1746-4060-9F8A-2385F6F7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341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Streamlit + Colab + Groq</a:t>
            </a:r>
          </a:p>
        </p:txBody>
      </p:sp>
    </p:spTree>
    <p:extLst>
      <p:ext uri="{BB962C8B-B14F-4D97-AF65-F5344CB8AC3E}">
        <p14:creationId xmlns:p14="http://schemas.microsoft.com/office/powerpoint/2010/main" val="20067830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654EB8-E548-4BE4-83D0-D0924291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E711D-72C1-4561-9345-B61A47A8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E72305E-C55F-4940-B168-C9311B08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AI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CB846-5DCE-4B5E-A171-7F4AEC45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Groq turns the forecast into a conversation for sales leaders.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A872E-5E34-4901-B9F4-2858896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DD682-A768-47E6-8F77-9A013219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Example questions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6CD06-3D59-421C-8123-74B2767F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B6A61-02BB-4F7E-9DC8-65664A3C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How healthy is the quota forecast?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70A22-E355-48CD-AEDA-5BEC63CD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5D67D-1CCB-4F85-8CCF-66EC4FA6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Which territories are at risk?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6001D-E3B6-4919-8E35-BE7506CF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5DBCE-703E-4445-B577-50258536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What is committed vs best case pipeline?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6B345-47CC-4A7E-B326-B49E1822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5E9E1-FF3E-4673-BEB9-1350BD00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Why did sales drop?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F42D0-014A-4878-92D0-61E5EA3D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0813F-D240-4798-BA76-A843A4FE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What should the manager do next?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1D7A3-DA4E-4A28-AD0E-034DF02B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52650"/>
            <a:ext cx="4000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6FDC27-BFC3-47D5-A912-54CDD8B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F7F3A4-F451-4E34-97CC-16F1F58A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app sends only dashboard context to Groq. Secrets stay in Streamlit secrets or environment variables and are not committed to GitHub.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E0143-A8B4-4218-A7BB-2A2A9C77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529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F87FF-5D39-4D0A-8346-D2FD94B9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96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If the provider is unavailable, the local insight engine still answers from uploaded dataset metrics.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0DB04-D762-45FC-BA79-11CD0E21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20913-700C-42A0-8A73-C981C15B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Sales Forecast AI | 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591DDB-3E5E-412D-B67A-13917193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341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Streamlit + Colab + Groq</a:t>
            </a:r>
          </a:p>
        </p:txBody>
      </p:sp>
    </p:spTree>
    <p:extLst>
      <p:ext uri="{BB962C8B-B14F-4D97-AF65-F5344CB8AC3E}">
        <p14:creationId xmlns:p14="http://schemas.microsoft.com/office/powerpoint/2010/main" val="1733280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42B2AD-1014-4AB0-AA84-920C4612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4A9DD-E1F4-445A-9D9F-C2085A89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908B967-538D-493A-93E7-E1E73ED1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LAUNCH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7F2A7-249A-4B41-ACFD-AF2FFFD0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F172A"/>
                </a:solidFill>
                <a:latin typeface="Georgia"/>
                <a:ea typeface="Georgia"/>
                <a:cs typeface="Georgia"/>
              </a:rPr>
              <a:t>The website now ships with the assets a reviewer needs to trust the project.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CBDA6-81B5-4AD2-BCA9-B848633E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563E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971C6-542F-4096-ABBE-AE956BAC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050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76CCB-2585-4B99-8661-B26691F0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90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Website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D9856-5C36-4221-BA1A-567D2FDE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90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Streamlit app with Forecast Center and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0B4B7-8C25-42DC-8698-A679EA6F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9731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690C9-60CF-40CE-8F38-D7166EA2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908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A05B4-5439-4706-B074-8A05C0B7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76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Colab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5014B-0A11-4507-9F47-707AA949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765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Preprocessing notebook linked for reproducible data cleaning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9C297-76E2-4292-9306-464C3C7E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563E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CD562-0B1C-4614-ABBA-32034D7E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766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7FD08-37C0-4D6D-889F-519F0C13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62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PowerPoint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FFFB9-3390-4B8A-98ED-0996427A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623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Project deck linked and downloadable from the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A7F2B-9201-4B43-8D3D-F762C206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9731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DB7D5-038E-4D69-AFB0-A4DF848B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624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4E379-DB1D-457D-9CE3-06388AAD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48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Secrets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FB3BA5-421A-4E20-88F3-95570ACA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481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Groq key configured through Streamlit secrets, not source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3618B8-081C-4456-87B1-4ADD49FC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563EB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814A5-4ED6-4151-9139-17F3B65F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482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695623-65F4-4398-8FF5-650B7ECF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33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AA1FAA-82EC-4E26-AC09-7638D42E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339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Assets are path-stable after pushing to main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20D814-2FAA-4DA4-BF37-95A091C6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479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1B3C4-4F04-4650-AEE7-70C26070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52700"/>
            <a:ext cx="895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READY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TO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825DD8-63D1-41C1-B23D-20C7C96C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9A489A-613A-4C14-A027-AF2071B4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Sales Forecast AI | 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A76F35-04E5-4C26-90DD-4DBE2DEB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341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Streamlit + Colab + Groq</a:t>
            </a:r>
          </a:p>
        </p:txBody>
      </p:sp>
    </p:spTree>
    <p:extLst>
      <p:ext uri="{BB962C8B-B14F-4D97-AF65-F5344CB8AC3E}">
        <p14:creationId xmlns:p14="http://schemas.microsoft.com/office/powerpoint/2010/main" val="1735771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2026-05-10T11:35:01.8260000Z</dcterms:created>
  <dcterms:modified xsi:type="dcterms:W3CDTF">2026-05-10T11:35:01.8260000Z</dcterms:modified>
</coreProperties>
</file>